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120640"/>
            <a:ext cx="3108960" cy="310896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548640"/>
            <a:ext cx="2011680" cy="201168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REVIEW-I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Dataset Labeling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for Structured AI Dataset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Workflows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Sivanesh 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818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4818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Artificial Intelligence and Data Science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2029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52029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J.J. College of Engineering and Technology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5869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55869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University  |  Regulation R2021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6675120" cy="0"/>
          </a:xfrm>
          <a:prstGeom prst="line">
            <a:avLst/>
          </a:prstGeom>
          <a:noFill/>
          <a:ln w="12700">
            <a:solidFill>
              <a:srgbClr val="3A44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080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3825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github.com/sivaneshk23/AI-Dataset-Labeling-Marketplace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46920" y="2286000"/>
            <a:ext cx="1188720" cy="118872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0" name="Text 18"/>
          <p:cNvSpPr/>
          <p:nvPr/>
        </p:nvSpPr>
        <p:spPr>
          <a:xfrm>
            <a:off x="9646920" y="22860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380" dirty="0"/>
          </a:p>
        </p:txBody>
      </p:sp>
      <p:sp>
        <p:nvSpPr>
          <p:cNvPr id="21" name="Text 19"/>
          <p:cNvSpPr/>
          <p:nvPr/>
        </p:nvSpPr>
        <p:spPr>
          <a:xfrm>
            <a:off x="8595360" y="3749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marketplace that connects dataset owners with annotators/workers through a structured workflow for datasets and labeling jobs — replacing ad-hoc, manual coordination with a trackable, database-backed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87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5328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10896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 depend on high-quality labeled data — labeling is a core, often bottlenecked, step in every ML pipeline.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587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5328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Owners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310896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datasets and create labeling jobs that define the annotation work to be done.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873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73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8188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Annotators / Workers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539496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jobs, take up assignments, and carry out the labeling work through the platform.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6177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873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873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8188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MVP Objective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539496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 working, end-to-end flow: authenticated users creating datasets and labeling jobs, persisted in PostgreSQL and served through a REST API to a React frontend.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38728" cy="4160520"/>
          </a:xfrm>
          <a:prstGeom prst="roundRect">
            <a:avLst>
              <a:gd name="adj" fmla="val 1550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2860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AI/ML projects need large volumes of accurately labeled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coordination of annotation work does not scale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41148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centralized way to link datasets, jobs, and workers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05656" y="32689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25112" y="1417320"/>
            <a:ext cx="3538728" cy="4160520"/>
          </a:xfrm>
          <a:prstGeom prst="roundRect">
            <a:avLst>
              <a:gd name="adj" fmla="val 1550"/>
            </a:avLst>
          </a:prstGeom>
          <a:solidFill>
            <a:srgbClr val="F4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1645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5A3F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81144" y="22860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Assignment and progress tracking becomes fragmented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1144" y="32004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Owners lose visibility into job status and worker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81144" y="41148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Generic tools lack a domain-specific labeling workflow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82128" y="32689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1584" y="1417320"/>
            <a:ext cx="3538728" cy="4160520"/>
          </a:xfrm>
          <a:prstGeom prst="roundRect">
            <a:avLst>
              <a:gd name="adj" fmla="val 1550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8330184" y="1645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00C2CB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57616" y="22860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dedicated platform connecting datasets, jobs, and 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57616" y="32004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Structured backend APIs + real database persistence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57616" y="4114800"/>
            <a:ext cx="30266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clear, trackable path from dataset to labeled 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Problem: Build a structured, database-backed marketplace connecting dataset owners and annotators for creating, tracking, and completing labeling jobs.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Owner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on the platform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21992" y="198424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59736" y="169164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551176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51176" y="2221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dataset record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33088" y="198424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0832" y="169164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Labeling Job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2221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annotation work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44184" y="198424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81928" y="169164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Workflow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73368" y="2221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made available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198424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93024" y="169164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B9860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284464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 / Worker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84464" y="2221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labeling work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866376" y="198424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04120" y="169164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B9860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0195560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95560" y="2221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tracks &amp; manages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29718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(MVP)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97480" y="297180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FBEED9"/>
          </a:solidFill>
          <a:ln/>
        </p:spPr>
      </p:sp>
      <p:sp>
        <p:nvSpPr>
          <p:cNvPr id="30" name="Text 28"/>
          <p:cNvSpPr/>
          <p:nvPr/>
        </p:nvSpPr>
        <p:spPr>
          <a:xfrm>
            <a:off x="269748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(FUTURE)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frontend calls FastAPI REST endpoints for every action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4544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Authenticated dataset owners create and manage datasets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492861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Labeling jobs are linked to a dataset via foreign key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53126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 MVP covers dataset + job CRUD end-to-end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6967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Assignment and review workflows are planned next-phase capabilities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 / End-to-End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426464" cy="3017520"/>
          </a:xfrm>
          <a:prstGeom prst="rect">
            <a:avLst/>
          </a:prstGeom>
          <a:solidFill>
            <a:srgbClr val="27327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133502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83664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29968" y="1508760"/>
            <a:ext cx="1426464" cy="3017520"/>
          </a:xfrm>
          <a:prstGeom prst="rect">
            <a:avLst/>
          </a:prstGeom>
          <a:solidFill>
            <a:srgbClr val="323D8F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1600200"/>
            <a:ext cx="133502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64992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11296" y="1508760"/>
            <a:ext cx="1426464" cy="3017520"/>
          </a:xfrm>
          <a:prstGeom prst="rect">
            <a:avLst/>
          </a:prstGeom>
          <a:solidFill>
            <a:srgbClr val="27327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600200"/>
            <a:ext cx="133502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/ Validation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92624" y="1508760"/>
            <a:ext cx="1426464" cy="3017520"/>
          </a:xfrm>
          <a:prstGeom prst="rect">
            <a:avLst/>
          </a:prstGeom>
          <a:solidFill>
            <a:srgbClr val="323D8F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600200"/>
            <a:ext cx="133502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7648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73952" y="1508760"/>
            <a:ext cx="1426464" cy="3017520"/>
          </a:xfrm>
          <a:prstGeom prst="rect">
            <a:avLst/>
          </a:prstGeom>
          <a:solidFill>
            <a:srgbClr val="27327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00200"/>
            <a:ext cx="133502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08976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1508760"/>
            <a:ext cx="1426464" cy="3017520"/>
          </a:xfrm>
          <a:prstGeom prst="rect">
            <a:avLst/>
          </a:prstGeom>
          <a:solidFill>
            <a:srgbClr val="323D8F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1600200"/>
            <a:ext cx="133502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90304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36608" y="1508760"/>
            <a:ext cx="1426464" cy="3017520"/>
          </a:xfrm>
          <a:prstGeom prst="rect">
            <a:avLst/>
          </a:prstGeom>
          <a:solidFill>
            <a:srgbClr val="27327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2328" y="1600200"/>
            <a:ext cx="133502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78231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— Dataset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480060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48006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UI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3584448" y="480060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94176" y="480060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48006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API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5084064" y="480060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93792" y="480060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48006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Svc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6583680" y="480060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93408" y="480060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48006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Repo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8083296" y="480060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93024" y="480060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93024" y="48006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9582912" y="480060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92640" y="480060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480060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548640" y="55595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— Job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94560" y="557784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8FE3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557784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UI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3584448" y="55778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94176" y="557784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8FE3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94176" y="557784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API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5084064" y="55778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93792" y="557784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8FE3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93792" y="557784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Service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6583680" y="55778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93408" y="557784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8FE3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93408" y="557784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Repo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8083296" y="55778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93024" y="557784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8FE3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93024" y="557784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9582912" y="55778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692640" y="5577840"/>
            <a:ext cx="1389888" cy="502920"/>
          </a:xfrm>
          <a:prstGeom prst="roundRect">
            <a:avLst>
              <a:gd name="adj" fmla="val 9091"/>
            </a:avLst>
          </a:prstGeom>
          <a:solidFill>
            <a:srgbClr val="141B4D"/>
          </a:solidFill>
          <a:ln w="9525">
            <a:solidFill>
              <a:srgbClr val="8FE3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92640" y="557784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1417320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417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9202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148840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26517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288036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880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288036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0C2CB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2880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288036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880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0" y="2651760"/>
            <a:ext cx="0" cy="228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651760"/>
            <a:ext cx="0" cy="228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2651760"/>
            <a:ext cx="0" cy="228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566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0560" y="3611880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3611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566160"/>
            <a:ext cx="0" cy="4572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4114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80560" y="4343400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4343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80560" y="5074920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5074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52160" y="55778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80560" y="5806440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5806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69680" y="1874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 separation: API → Service → Repository → Model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69680" y="2834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Auth, Dataset and Job APIs share the same layered flow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6968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 integrations (e.g. cloud storage, ML services) will sit alongside PostgreSQL — planned, not yet implemented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69680" y="4937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FBEED9"/>
          </a:solidFill>
          <a:ln/>
        </p:spPr>
      </p:sp>
      <p:sp>
        <p:nvSpPr>
          <p:cNvPr id="37" name="Text 35"/>
          <p:cNvSpPr/>
          <p:nvPr/>
        </p:nvSpPr>
        <p:spPr>
          <a:xfrm>
            <a:off x="886968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INTEGRATIONS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/ ER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31720" cy="153619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2331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0266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2331720" cy="153619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371600"/>
            <a:ext cx="2331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371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20299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owner_id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23225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261518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18120" y="1783080"/>
            <a:ext cx="2331720" cy="153619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1783080"/>
            <a:ext cx="2331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783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labeling_jobs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2148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0" y="2441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dataset_id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55280" y="273405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created_by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55280" y="30266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3611880"/>
            <a:ext cx="2331720" cy="153619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611880"/>
            <a:ext cx="2331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611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job_assignments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977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42702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job_id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456285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worker_id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17720" y="48554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18120" y="4434840"/>
            <a:ext cx="2331720" cy="153619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4434840"/>
            <a:ext cx="2331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4434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55280" y="480060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55280" y="50932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job_id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55280" y="538581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reviewer_id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55280" y="567842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71800" y="1645920"/>
            <a:ext cx="1508760" cy="50292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2331720"/>
            <a:ext cx="1508760" cy="150876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12280" y="1645920"/>
            <a:ext cx="1005840" cy="50292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2560320"/>
            <a:ext cx="1005840" cy="128016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3200400"/>
            <a:ext cx="0" cy="123444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623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" y="59893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Primary keys uniquely identify each record; foreign keys enforce referential integrity across users, datasets, jobs, assignments and reviews.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63640" y="59893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was chosen for strong relational integrity, mature SQLAlchemy support, and reliable transactional persistence.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40080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01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801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854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1854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640080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94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Style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5694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535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9535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640080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7216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05656"/>
            <a:ext cx="640080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056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41056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489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44897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73752"/>
            <a:ext cx="640080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873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48737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2578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5257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641848"/>
            <a:ext cx="640080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641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0" y="56418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60920" y="1417320"/>
            <a:ext cx="4279392" cy="246888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35240" y="2148840"/>
            <a:ext cx="3749040" cy="292608"/>
          </a:xfrm>
          <a:prstGeom prst="roundRect">
            <a:avLst>
              <a:gd name="adj" fmla="val 12500"/>
            </a:avLst>
          </a:prstGeom>
          <a:solidFill>
            <a:srgbClr val="00C2CB"/>
          </a:solidFill>
          <a:ln/>
        </p:spPr>
      </p:sp>
      <p:sp>
        <p:nvSpPr>
          <p:cNvPr id="38" name="Text 36"/>
          <p:cNvSpPr/>
          <p:nvPr/>
        </p:nvSpPr>
        <p:spPr>
          <a:xfrm>
            <a:off x="7635240" y="2148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635240" y="2560320"/>
            <a:ext cx="3749040" cy="292608"/>
          </a:xfrm>
          <a:prstGeom prst="roundRect">
            <a:avLst>
              <a:gd name="adj" fmla="val 12500"/>
            </a:avLst>
          </a:prstGeom>
          <a:solidFill>
            <a:srgbClr val="00C2CB"/>
          </a:solidFill>
          <a:ln/>
        </p:spPr>
      </p:sp>
      <p:sp>
        <p:nvSpPr>
          <p:cNvPr id="40" name="Text 38"/>
          <p:cNvSpPr/>
          <p:nvPr/>
        </p:nvSpPr>
        <p:spPr>
          <a:xfrm>
            <a:off x="7635240" y="25603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2971800"/>
            <a:ext cx="3749040" cy="292608"/>
          </a:xfrm>
          <a:prstGeom prst="roundRect">
            <a:avLst>
              <a:gd name="adj" fmla="val 12500"/>
            </a:avLst>
          </a:prstGeom>
          <a:solidFill>
            <a:srgbClr val="00C2CB"/>
          </a:solidFill>
          <a:ln/>
        </p:spPr>
      </p:sp>
      <p:sp>
        <p:nvSpPr>
          <p:cNvPr id="42" name="Text 40"/>
          <p:cNvSpPr/>
          <p:nvPr/>
        </p:nvSpPr>
        <p:spPr>
          <a:xfrm>
            <a:off x="7635240" y="2971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35240" y="3383280"/>
            <a:ext cx="3749040" cy="292608"/>
          </a:xfrm>
          <a:prstGeom prst="roundRect">
            <a:avLst>
              <a:gd name="adj" fmla="val 12500"/>
            </a:avLst>
          </a:prstGeom>
          <a:solidFill>
            <a:srgbClr val="00C2CB"/>
          </a:solidFill>
          <a:ln/>
        </p:spPr>
      </p:sp>
      <p:sp>
        <p:nvSpPr>
          <p:cNvPr id="44" name="Text 42"/>
          <p:cNvSpPr/>
          <p:nvPr/>
        </p:nvSpPr>
        <p:spPr>
          <a:xfrm>
            <a:off x="7635240" y="3383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60920" y="4114800"/>
            <a:ext cx="4279392" cy="1874520"/>
          </a:xfrm>
          <a:prstGeom prst="roundRect">
            <a:avLst>
              <a:gd name="adj" fmla="val 2927"/>
            </a:avLst>
          </a:prstGeom>
          <a:solidFill>
            <a:srgbClr val="F4F7FC"/>
          </a:solidFill>
          <a:ln/>
        </p:spPr>
      </p:sp>
      <p:sp>
        <p:nvSpPr>
          <p:cNvPr id="46" name="Text 44"/>
          <p:cNvSpPr/>
          <p:nvPr/>
        </p:nvSpPr>
        <p:spPr>
          <a:xfrm>
            <a:off x="7635240" y="43434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technologies actually integrated into the codebase are listed. No unused or placeholder libraries are represented as part of the stack.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MVP / Proof of Implementation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screenshots (dashboard, Swagger API, PostgreSQL data, GitHub commits) to be inserted from the live project during the review presentation.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286000" cy="1417320"/>
          </a:xfrm>
          <a:prstGeom prst="roundRect">
            <a:avLst>
              <a:gd name="adj" fmla="val 3226"/>
            </a:avLst>
          </a:prstGeom>
          <a:solidFill>
            <a:srgbClr val="F4F7FC"/>
          </a:solidFill>
          <a:ln w="12700">
            <a:solidFill>
              <a:srgbClr val="C7CF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2148840"/>
            <a:ext cx="2286000" cy="1417320"/>
          </a:xfrm>
          <a:prstGeom prst="roundRect">
            <a:avLst>
              <a:gd name="adj" fmla="val 3226"/>
            </a:avLst>
          </a:prstGeom>
          <a:solidFill>
            <a:srgbClr val="F4F7FC"/>
          </a:solidFill>
          <a:ln w="12700">
            <a:solidFill>
              <a:srgbClr val="C7CF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01752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75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148840"/>
            <a:ext cx="2286000" cy="1417320"/>
          </a:xfrm>
          <a:prstGeom prst="roundRect">
            <a:avLst>
              <a:gd name="adj" fmla="val 3226"/>
            </a:avLst>
          </a:prstGeom>
          <a:solidFill>
            <a:srgbClr val="F4F7FC"/>
          </a:solidFill>
          <a:ln w="12700">
            <a:solidFill>
              <a:srgbClr val="C7CF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Screen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286000" cy="1417320"/>
          </a:xfrm>
          <a:prstGeom prst="roundRect">
            <a:avLst>
              <a:gd name="adj" fmla="val 3226"/>
            </a:avLst>
          </a:prstGeom>
          <a:solidFill>
            <a:srgbClr val="F4F7FC"/>
          </a:solidFill>
          <a:ln w="12700">
            <a:solidFill>
              <a:srgbClr val="C7CF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864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Job Screen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3794760"/>
            <a:ext cx="2286000" cy="1417320"/>
          </a:xfrm>
          <a:prstGeom prst="roundRect">
            <a:avLst>
              <a:gd name="adj" fmla="val 3226"/>
            </a:avLst>
          </a:prstGeom>
          <a:solidFill>
            <a:srgbClr val="F4F7FC"/>
          </a:solidFill>
          <a:ln w="12700">
            <a:solidFill>
              <a:srgbClr val="C7CFE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01752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1752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API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3794760"/>
            <a:ext cx="2286000" cy="1417320"/>
          </a:xfrm>
          <a:prstGeom prst="roundRect">
            <a:avLst>
              <a:gd name="adj" fmla="val 3226"/>
            </a:avLst>
          </a:prstGeom>
          <a:solidFill>
            <a:srgbClr val="F4F7FC"/>
          </a:solidFill>
          <a:ln w="12700">
            <a:solidFill>
              <a:srgbClr val="C7CFE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8640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1371600"/>
            <a:ext cx="3685032" cy="4846320"/>
          </a:xfrm>
          <a:prstGeom prst="roundRect">
            <a:avLst>
              <a:gd name="adj" fmla="val 148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Statements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0" y="2103120"/>
            <a:ext cx="274320" cy="27432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204825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PostgreSQL persistence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2761488"/>
            <a:ext cx="274320" cy="27432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0" y="270662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419856"/>
            <a:ext cx="274320" cy="27432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419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33649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4078224"/>
            <a:ext cx="274320" cy="27432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078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95360" y="4023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CRUD workflow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4736592"/>
            <a:ext cx="274320" cy="27432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736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95360" y="4681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Job CRUD workflow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5394960"/>
            <a:ext cx="274320" cy="27432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95360" y="5340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 → Database → Frontend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Review-I Status, Achievements &amp; Next Phase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023360"/>
          </a:xfrm>
          <a:prstGeom prst="roundRect">
            <a:avLst>
              <a:gd name="adj" fmla="val 1364"/>
            </a:avLst>
          </a:prstGeom>
          <a:solidFill>
            <a:srgbClr val="22307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459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9E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Planning and problem 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Architecture and ER design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schema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frontend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Authentication foundation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 workflow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6517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Labeling Job workflow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3108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Database persistence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35661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Testing and local verification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40233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Git-based development workflow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417320"/>
            <a:ext cx="5440680" cy="4023360"/>
          </a:xfrm>
          <a:prstGeom prst="roundRect">
            <a:avLst>
              <a:gd name="adj" fmla="val 1364"/>
            </a:avLst>
          </a:prstGeom>
          <a:solidFill>
            <a:srgbClr val="2230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16459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B9860A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1645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194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Remaining core marketplace modules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73952" y="27432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Additional CRUD workflows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73952" y="3291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Assignment workflow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73952" y="38404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workflow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73952" y="43891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Expanded testing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25712" y="2194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CI/CD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25712" y="27432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deployment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25712" y="3291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AI/ML specialization / enhancement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25712" y="38404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 product hardening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0C2CB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Goal: Demonstrate a working, explainable full-stack MVP with real database persistence and clear engineering structure.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Labeling Marketplace  |  Capstone Review-I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2026-08-12T04:29:18Z</dcterms:created>
  <dcterms:modified xsi:type="dcterms:W3CDTF">2026-08-12T04:29:18Z</dcterms:modified>
</cp:coreProperties>
</file>